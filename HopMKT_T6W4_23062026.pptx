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PHÒNG MARKETING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HỌP TUẦN 4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658368" y="358444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06 / 2026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42245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Ngày họp: 23/06/2026  ·  Review W3 (15–21/6)  ·  Plan W4 (22–30/6)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2440" y="137160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0" b="1" dirty="0">
                <a:solidFill>
                  <a:srgbClr val="8E0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— 30% Review W3  /  70% Plan W4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· AGENDA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749808"/>
            <a:ext cx="53949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  <a:effectLst>
            <a:outerShdw sx="100000" sy="100000" kx="0" ky="0" algn="bl" rotWithShape="0" blurRad="50800" dist="25400" dir="5400000">
              <a:srgbClr val="C0CBD8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55080" y="749808"/>
            <a:ext cx="53949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  <a:effectLst>
            <a:outerShdw sx="100000" sy="100000" kx="0" ky="0" algn="bl" rotWithShape="0" blurRad="50800" dist="25400" dir="5400000">
              <a:srgbClr val="C0CBD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749808"/>
            <a:ext cx="5394960" cy="402336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10" name="Shape 8"/>
          <p:cNvSpPr/>
          <p:nvPr/>
        </p:nvSpPr>
        <p:spPr>
          <a:xfrm>
            <a:off x="6355080" y="749808"/>
            <a:ext cx="5394960" cy="402336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76809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CŨ — W3 REVIEW (30%)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46520" y="76809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MỚI — W4 PLAN (70%)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1298448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So sánh DT bán lẻ 3 tuần (thực tế vs mục tiêu)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1956816"/>
            <a:ext cx="502920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39696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Diễn biến từng ngày W3 + phân tích chi phí full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2798064"/>
            <a:ext cx="502920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980944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Quảng cáo tự động vs nhắm tay — kết quả W3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639312"/>
            <a:ext cx="502920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82219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Phân bổ ngân sách W4 — giữ mức, không vượt trần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480560"/>
            <a:ext cx="502920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66344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Content công thức + Phân nhiệm sản xuất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92240" y="1298448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Mục tiêu W4: 2,092tr / 9 ngày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956816"/>
            <a:ext cx="502920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139696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8 nhiệm vụ trọng tâm tuần cuối tháng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2798064"/>
            <a:ext cx="502920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980944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Báo cáo ứng dụng AI hàng ngày — triển khai W4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92240" y="3639312"/>
            <a:ext cx="502920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822192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Khó khăn → Giải pháp + Người phụ trách + Deadline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4480560"/>
            <a:ext cx="502920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66344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Timeline tuần + Chốt hành động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0" b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9000" dirty="0"/>
          </a:p>
        </p:txBody>
      </p:sp>
      <p:sp>
        <p:nvSpPr>
          <p:cNvPr id="4" name="Text 2"/>
          <p:cNvSpPr/>
          <p:nvPr/>
        </p:nvSpPr>
        <p:spPr>
          <a:xfrm>
            <a:off x="3931920" y="21031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CŨ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97764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W3 · 15–21/06/2026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doanh thu bán lẻ — 3 tuần T6/2026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· KẾT QUẢ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749808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749808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859536"/>
            <a:ext cx="2651760" cy="651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1,599tr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515161"/>
            <a:ext cx="2505456" cy="368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(1–7/6) · MT 1,694tr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83664"/>
            <a:ext cx="2505456" cy="255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 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749808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25400">
            <a:solidFill>
              <a:srgbClr val="E27D2A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749808"/>
            <a:ext cx="2651760" cy="54864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859536"/>
            <a:ext cx="2651760" cy="651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1,844tr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19272" y="1515161"/>
            <a:ext cx="2505456" cy="368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(8–14/6) · MT 2,162tr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19272" y="1883664"/>
            <a:ext cx="2505456" cy="255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08192" y="749808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25400">
            <a:solidFill>
              <a:srgbClr val="C40D2E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08192" y="749808"/>
            <a:ext cx="2651760" cy="54864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19" name="Text 17"/>
          <p:cNvSpPr/>
          <p:nvPr/>
        </p:nvSpPr>
        <p:spPr>
          <a:xfrm>
            <a:off x="6108192" y="859536"/>
            <a:ext cx="2651760" cy="651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1,613tr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81344" y="1515161"/>
            <a:ext cx="2505456" cy="368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(15–21/6) · MT 2,062tr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81344" y="1883664"/>
            <a:ext cx="2505456" cy="255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78.2% 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970264" y="749808"/>
            <a:ext cx="265176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25400">
            <a:solidFill>
              <a:srgbClr val="12305C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970264" y="749808"/>
            <a:ext cx="2651760" cy="54864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24" name="Text 22"/>
          <p:cNvSpPr/>
          <p:nvPr/>
        </p:nvSpPr>
        <p:spPr>
          <a:xfrm>
            <a:off x="8970264" y="859536"/>
            <a:ext cx="2651760" cy="6519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2,092tr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043416" y="1515161"/>
            <a:ext cx="2505456" cy="3685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MT (22–30/6) · 9 ngày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43416" y="1883664"/>
            <a:ext cx="2505456" cy="255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4983480"/>
            <a:ext cx="114300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0674" y="3441262"/>
            <a:ext cx="955548" cy="1542218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29" name="Text 27"/>
          <p:cNvSpPr/>
          <p:nvPr/>
        </p:nvSpPr>
        <p:spPr>
          <a:xfrm>
            <a:off x="692658" y="3194374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1,694tr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849374" y="3527750"/>
            <a:ext cx="955548" cy="145573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1721358" y="3280862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1,599tr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84048" y="5038344"/>
            <a:ext cx="28575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(1–7/6)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78174" y="3015195"/>
            <a:ext cx="955548" cy="1968285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34" name="Text 32"/>
          <p:cNvSpPr/>
          <p:nvPr/>
        </p:nvSpPr>
        <p:spPr>
          <a:xfrm>
            <a:off x="3550158" y="2768307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2,162tr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6874" y="3304702"/>
            <a:ext cx="955548" cy="1678778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8858" y="3057814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1,844tr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41548" y="5038344"/>
            <a:ext cx="28575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(8–14/6)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35674" y="3106235"/>
            <a:ext cx="955548" cy="1877245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39" name="Text 37"/>
          <p:cNvSpPr/>
          <p:nvPr/>
        </p:nvSpPr>
        <p:spPr>
          <a:xfrm>
            <a:off x="6407658" y="2859347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2,062tr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64374" y="3515005"/>
            <a:ext cx="955548" cy="1468475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1" name="Text 39"/>
          <p:cNvSpPr/>
          <p:nvPr/>
        </p:nvSpPr>
        <p:spPr>
          <a:xfrm>
            <a:off x="7436358" y="3268117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1,613tr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99048" y="5038344"/>
            <a:ext cx="28575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(15–21/6)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393174" y="3078923"/>
            <a:ext cx="955548" cy="1904557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44" name="Text 42"/>
          <p:cNvSpPr/>
          <p:nvPr/>
        </p:nvSpPr>
        <p:spPr>
          <a:xfrm>
            <a:off x="9265158" y="2832035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2,092tr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421874" y="4983480"/>
            <a:ext cx="955548" cy="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6" name="Text 44"/>
          <p:cNvSpPr/>
          <p:nvPr/>
        </p:nvSpPr>
        <p:spPr>
          <a:xfrm>
            <a:off x="10293858" y="4736592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956548" y="5038344"/>
            <a:ext cx="28575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(22–30/6)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156448" y="2359152"/>
            <a:ext cx="164592" cy="164592"/>
          </a:xfrm>
          <a:prstGeom prst="rect">
            <a:avLst/>
          </a:prstGeom>
          <a:solidFill>
            <a:srgbClr val="D6E4F7"/>
          </a:solidFill>
          <a:ln/>
        </p:spPr>
      </p:sp>
      <p:sp>
        <p:nvSpPr>
          <p:cNvPr id="49" name="Text 47"/>
          <p:cNvSpPr/>
          <p:nvPr/>
        </p:nvSpPr>
        <p:spPr>
          <a:xfrm>
            <a:off x="8375904" y="23042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9985248" y="2359152"/>
            <a:ext cx="164592" cy="1645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10204704" y="23042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tế</a:t>
            </a:r>
            <a:endParaRPr lang="en-US" sz="9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5577840"/>
          <a:ext cx="11430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 (1–7/6)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 (8–14/6)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 (15–21/6)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 MT (22–30/6)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Mục tiêu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1,694tr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2,162tr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2,062tr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Thực tế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1,599tr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1,844tr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đạt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đơn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quảng cáo (full)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210.0tr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248.5tr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≤344tr (còn lại)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chi / 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tin trung bình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55,300đ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60,300đ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48,000đ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Diễn biến từng ngày W3 (15–21/6) — DT + Chi phí quảng cáo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· NGÀY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749808"/>
          <a:ext cx="11521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34440"/>
                <a:gridCol w="822960"/>
                <a:gridCol w="1188720"/>
                <a:gridCol w="1188720"/>
                <a:gridCol w="960120"/>
                <a:gridCol w="1188720"/>
                <a:gridCol w="2011680"/>
              </a:tblGrid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Ngày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bán lẻ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đơn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FB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TikTok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GG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Ghi chú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15/6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251.1tr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33.5tr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nhất tuần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16/6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207.9tr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cao, DT thấp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17/6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210.6tr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31.9tr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18/6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 thứ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19/6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30.9tr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ít, DT 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20/6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236.2tr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cuối tuần tốt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 21/6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 bật lại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W3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234.8tr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47472" y="626364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T6 19/6: DT cao nhất (259tr) nhưng chi phí thấp nhất (30.9tr) → hiệu suất tốt nhất tuần  |  T3 16/6: ngược lại — chi 39.3tr chỉ đổi được 207.9tr DT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đầu việc W3 — Tổng kết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· DONE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749808"/>
            <a:ext cx="2743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749808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859536"/>
            <a:ext cx="274320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441094"/>
            <a:ext cx="2596896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hoàn thành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73936"/>
            <a:ext cx="2596896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done ✓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749808"/>
            <a:ext cx="2743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27D2A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749808"/>
            <a:ext cx="2743200" cy="54864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859536"/>
            <a:ext cx="274320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364992" y="1441094"/>
            <a:ext cx="2596896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 hỗ trợ W3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64992" y="1773936"/>
            <a:ext cx="2596896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 ghi nhận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99632" y="749808"/>
            <a:ext cx="2743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40D2E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99632" y="749808"/>
            <a:ext cx="2743200" cy="54864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19" name="Text 17"/>
          <p:cNvSpPr/>
          <p:nvPr/>
        </p:nvSpPr>
        <p:spPr>
          <a:xfrm>
            <a:off x="6199632" y="859536"/>
            <a:ext cx="274320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72784" y="1441094"/>
            <a:ext cx="2596896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 chưa xong → W4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72784" y="1773936"/>
            <a:ext cx="2596896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tiếp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107424" y="749808"/>
            <a:ext cx="274320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12305C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07424" y="749808"/>
            <a:ext cx="2743200" cy="54864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24" name="Text 22"/>
          <p:cNvSpPr/>
          <p:nvPr/>
        </p:nvSpPr>
        <p:spPr>
          <a:xfrm>
            <a:off x="9107424" y="859536"/>
            <a:ext cx="2743200" cy="5888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↑W4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180576" y="1441094"/>
            <a:ext cx="2596896" cy="3328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 tiên xử lý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180576" y="1773936"/>
            <a:ext cx="2596896" cy="2304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cuối tháng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212848"/>
          <a:ext cx="5394960" cy="914400"/>
        </p:xfrm>
        <a:graphic>
          <a:graphicData uri="http://schemas.openxmlformats.org/drawingml/2006/table">
            <a:tbl>
              <a:tblPr/>
              <a:tblGrid>
                <a:gridCol w="53949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VIỆC CHƯA XONG → CHUYỂN W4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0D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Lan: Workflow Nhanh cho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Loan: Video test gọng đập mạnh + quay 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Quyên: Video oto + concept KOC + buổi quay cầm 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Tùng: Sát sao HP &amp; BN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Đạt: Tool KOC source + chốt deal cast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2212848"/>
          <a:ext cx="5669280" cy="914400"/>
        </p:xfrm>
        <a:graphic>
          <a:graphicData uri="http://schemas.openxmlformats.org/drawingml/2006/table">
            <a:tbl>
              <a:tblPr/>
              <a:tblGrid>
                <a:gridCol w="56692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HỌC ĐƯỢC / ĐÚC KẾT TUẦN W3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Đạt: Rule giữ/tắt cam = chi phí/đơn (không chỉ giá tin) — mess rẻ có thể là rác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Loan: TikTok nên làm content so sánh / world cup / có ý nghĩa hơn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Quyên: Page "chợ" → lọc kĩ nội dung, chạy chất không chạy số lượng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Trang: Brief rõ ràng → edit nhanh hơn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Tùng: Xong buổi học AI thứ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phí quảng cáo tính theo % doanh thu — nguyên tắc W4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· CHI PHÍ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749808"/>
            <a:ext cx="11430000" cy="987552"/>
          </a:xfrm>
          <a:prstGeom prst="roundRect">
            <a:avLst>
              <a:gd name="adj" fmla="val 6481"/>
            </a:avLst>
          </a:prstGeom>
          <a:solidFill>
            <a:srgbClr val="12305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822960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TẮC: Chi phí quảng cáo = % × DT thực tế — DT cao được chi nhiều, DT thấp phải cắt tương ứng, KHÔNG giữ số cứng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874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Chi phí / DT thực tế — 3 tuần T6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4251960"/>
            <a:ext cx="54864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2746058"/>
            <a:ext cx="914400" cy="150590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499170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4306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(1–7/6)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1,599tr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984248" y="2516150"/>
            <a:ext cx="914400" cy="1735810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15" name="Text 13"/>
          <p:cNvSpPr/>
          <p:nvPr/>
        </p:nvSpPr>
        <p:spPr>
          <a:xfrm>
            <a:off x="1856232" y="2269262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55648" y="4306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(8–14/6)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1,844tr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55848" y="2573627"/>
            <a:ext cx="914400" cy="1678333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18" name="Text 16"/>
          <p:cNvSpPr/>
          <p:nvPr/>
        </p:nvSpPr>
        <p:spPr>
          <a:xfrm>
            <a:off x="3227832" y="2326739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27248" y="4306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(15–21/6)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1,613tr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27448" y="2585122"/>
            <a:ext cx="914400" cy="166683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21" name="Text 19"/>
          <p:cNvSpPr/>
          <p:nvPr/>
        </p:nvSpPr>
        <p:spPr>
          <a:xfrm>
            <a:off x="4599432" y="2338234"/>
            <a:ext cx="117043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≤14.5%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98848" y="430682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MỤC TIÊU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2,092tr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" y="3364992"/>
            <a:ext cx="54864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11480" y="3383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≤14.5%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874520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1280160"/>
                <a:gridCol w="123444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bán lẻ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chi/DT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Đánh giá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 (1–7/6)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210.0tr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1,599tr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Đạt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 (8–14/6)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1,844tr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Hơi 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 (15–21/6)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234.8tr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Hơi 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23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 MỤC TIÊU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≤303tr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0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giữ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6080760" y="4315968"/>
            <a:ext cx="5715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DT thực W4 thấp hơn 2,092tr → chi phải giảm tương ứng để giữ ≤14.5%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dụ: DT thực 1,900tr → chi tối đa 14.5% × 1,900 = 275.5tr</a:t>
            </a:r>
            <a:endParaRPr lang="en-US" sz="11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4919472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61872"/>
                <a:gridCol w="1261872"/>
                <a:gridCol w="1005840"/>
                <a:gridCol w="1280160"/>
                <a:gridCol w="1280160"/>
                <a:gridCol w="1097280"/>
                <a:gridCol w="118872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FULL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bán lẻ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chi/DT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Tổng 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194.6tr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210.0tr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1,599tr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55,300đ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258.2tr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278.2tr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1,844tr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60,300đ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221.2tr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234.8tr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48,000đ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 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≤303tr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2,092tr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≤14.5%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</a:tbl>
          </a:graphicData>
        </a:graphic>
      </p:graphicFrame>
      <p:sp>
        <p:nvSpPr>
          <p:cNvPr id="28" name="Text 24"/>
          <p:cNvSpPr/>
          <p:nvPr/>
        </p:nvSpPr>
        <p:spPr>
          <a:xfrm>
            <a:off x="384048" y="65836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TikTok tăng 3.7× từ W1→W3 — theo dõi ROAS TikTok riêng để biết % này có hiệu quả không.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Quảng cáo tự động (ADV) vs Nhắm tay — kết quả W3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· ADS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84048" y="71323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dựa trên dữ liệu camp 15–21/6 (398 camp đang chạy)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1097280"/>
          <a:ext cx="54864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Chỉ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động (ADV)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Nhắm tay (Manual)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Số lượng camp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 (35.4%)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 (64.6%)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 TB/camp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 TB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~3.5x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~4.1x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tin TB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 hơn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hơn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Kết luận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 rẻ hơn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Chuyển đổi tốt hơn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097280"/>
          <a:ext cx="5577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CTKM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Gợi ý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Lý 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CT1 Summer Boom 39K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Nhắm 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 giá rõ, cần tệp đúng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CT2 Multi-Look 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động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Tệp rộng, ADV tốt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CT3 Đổi màu+Râm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Nhắm 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 thấp ở ADV W3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CT4 Eyezen+Chemi 450K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Nhắm tay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Giá cao cần tư vấn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CT5 Kính râm 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động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Tệp nữ rộng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CT6 Voucher đo mắt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Nhắm tay ✓✓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 9.4x W3 — giữ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84048" y="5349240"/>
            <a:ext cx="11430000" cy="502920"/>
          </a:xfrm>
          <a:prstGeom prst="rect">
            <a:avLst/>
          </a:prstGeom>
          <a:noFill/>
          <a:ln w="19050">
            <a:solidFill>
              <a:srgbClr val="0D9488"/>
            </a:solidFill>
          </a:ln>
        </p:spPr>
        <p:txBody>
          <a:bodyPr wrap="square" lIns="137160" tIns="137160" rIns="137160" bIns="13716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CT6 Voucher đo mắt: ROAS 9.4x, 38 đơn từ chỉ 51 tin — công thức tốt nhất tuần → duy trì &amp; tăng ngân sách W4</a:t>
            </a:r>
            <a:endParaRPr lang="en-US" sz="12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5943600"/>
          <a:ext cx="1115568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371600"/>
                <a:gridCol w="13716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camp hiệu quả W3 (ROAS &gt; 4.5x)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CT6 — Voucher đo mắt nhận voucher HN (Tùng)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vid — HCM nữ 25-35 (Tùng)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chạm trắng — HN nam 25-35 (Tùng)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 vid — HCM nam 25-35 (Tùng)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công thức W3 + Phân nhiệm sản xuất W4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· CONTENT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749808"/>
            <a:ext cx="539496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749808"/>
            <a:ext cx="5394960" cy="402336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68096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 CONTENT W3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125272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CT6 Voucher đo mắt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52704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đơn + call-to-action rõ → 51 tin / 38 đơn. ROAS 9.4x.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tin nhiều, cần đúng người.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30352" y="2167128"/>
            <a:ext cx="507492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5856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Ảnh chạm nền trắng (HN nam)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53288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nổi bật, không rối → ROAS 5.9x.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thức: nền sạch + neo giá rõ.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" y="3172968"/>
            <a:ext cx="507492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26440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Video lifestyle HCM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53872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vid ngắn, khách hàng thực → ROAS 6-7x.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Tệp nữ 25-35 phản hồi tốt.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0352" y="4178808"/>
            <a:ext cx="5074920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27024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Tránh: mess rẻ mà không ra đơn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544568"/>
            <a:ext cx="4983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 &lt;50K + chi &gt;300K không đơn → tắt ngay.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(Đạt đúc kết W3 — đã áp dụng.)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80760" y="749808"/>
            <a:ext cx="571500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80760" y="749808"/>
            <a:ext cx="5715000" cy="402336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23" name="Text 21"/>
          <p:cNvSpPr/>
          <p:nvPr/>
        </p:nvSpPr>
        <p:spPr>
          <a:xfrm>
            <a:off x="6199632" y="768096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NHIỆM SẢN XUẤT W4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0" y="1207008"/>
          <a:ext cx="5715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  <a:gridCol w="1097280"/>
                <a:gridCol w="7315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Nhiệm vụ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phụ trách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test gọng đập mạnh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≥3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quay tay gọng mới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oto + đẩy TikTok CT5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Lookbook AI kính râm CT5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 + Quyên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bộ 6 ảnh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Ảnh concept mới thay KOC đơn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Quyên + Trang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 concept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Nhanh cho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tài liệu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Buổi quay cầm tay kính CT4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Quyên + Trang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≥3 video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 ảnh trước khi lên bài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Trang duyệt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ảnh "chợ"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khăn W3 → Giải pháp + Người phụ trách + Deadline W4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· KHÓ KHĂN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749808"/>
          <a:ext cx="11521440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31520"/>
                <a:gridCol w="3474720"/>
                <a:gridCol w="1600200"/>
                <a:gridCol w="8686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Khó khăn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Giải pháp W4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phụ trách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CapCut Pro để xuất video chất lượng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Mua tài khoản CapCut Pro cho team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 MKT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 trình hợp đồng KOC chưa rõ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 liên hệ chị Ngọc nắm rõ quy trình → ghi lại SOP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KOC Bắc Ninh cũ đã loãng — cần thay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 sát sao tìm KOC BN mới + Đạt hỗ trợ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 + Đạt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Cần lookbook AI kính râm CT5 cho tệp tỉnh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Tạo bộ lookbook AI 6 ảnh → chạy thử BN/HP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 + Quyên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bị feedback "chợ" — content quá nhiều, kém chất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Giảm tần suất đăng, Trang duyệt hình trước khi lên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Quyên + Trang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chưa chốt được khách tại cửa hàng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Học hỏi thêm quy trình tư vấn offline, đặc biệt khách nữ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0" b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9000" dirty="0"/>
          </a:p>
        </p:txBody>
      </p:sp>
      <p:sp>
        <p:nvSpPr>
          <p:cNvPr id="4" name="Text 2"/>
          <p:cNvSpPr/>
          <p:nvPr/>
        </p:nvSpPr>
        <p:spPr>
          <a:xfrm>
            <a:off x="3931920" y="21031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TUẦN MỚI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3977640" y="3383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W4 · 22–30/06/2026 · 9 ngày đóng tháng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Tuần 4 — W4 (22–30/6) · Tuần đóng tháng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· MỤC TIÊU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749808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25400">
            <a:solidFill>
              <a:srgbClr val="12305C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749808"/>
            <a:ext cx="3383280" cy="54864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859536"/>
            <a:ext cx="33832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2,092tr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1490472"/>
            <a:ext cx="32369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DT bán lẻ W4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47088"/>
            <a:ext cx="3236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ngày · 232tr/ngày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749808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25400">
            <a:solidFill>
              <a:srgbClr val="C40D2E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931920" y="749808"/>
            <a:ext cx="3383280" cy="54864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859536"/>
            <a:ext cx="33832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≤14.5%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05072" y="1490472"/>
            <a:ext cx="32369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Tỉ lệ chi/DT mục tiêu W4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05072" y="1847088"/>
            <a:ext cx="3236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= 14.5% × DT thực tế mỗi ngày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479792" y="749808"/>
            <a:ext cx="338328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25400">
            <a:solidFill>
              <a:srgbClr val="E27D2A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479792" y="749808"/>
            <a:ext cx="3383280" cy="54864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19" name="Text 17"/>
          <p:cNvSpPr/>
          <p:nvPr/>
        </p:nvSpPr>
        <p:spPr>
          <a:xfrm>
            <a:off x="7479792" y="859536"/>
            <a:ext cx="338328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2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≤303tr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52944" y="1490472"/>
            <a:ext cx="3236976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đa nếu đạt MT (14.5%×2,092)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552944" y="1847088"/>
            <a:ext cx="3236976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27D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DT thấp → chi phải giảm theo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" y="2286000"/>
          <a:ext cx="114300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  <a:gridCol w="116128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Ngày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22/6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23/6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24/6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25/6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26/6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27/6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 28/6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29/6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30/6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 DT (tr)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QC tối đa (14.5%)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7D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Đơn MT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384048" y="385876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QC tối đa = 14.5% × DT thực tế ngày hôm đó — nếu DT thấp hơn mục tiêu thì chi phải giảm tương ứng, không giữ số cứng.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84048" y="5870448"/>
            <a:ext cx="11430000" cy="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98424" y="5128743"/>
            <a:ext cx="841248" cy="74170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3"/>
          <p:cNvSpPr/>
          <p:nvPr/>
        </p:nvSpPr>
        <p:spPr>
          <a:xfrm>
            <a:off x="470408" y="4881855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200tr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84048" y="5925312"/>
            <a:ext cx="127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22/6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868424" y="5091658"/>
            <a:ext cx="841248" cy="77879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1740408" y="484477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210tr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654048" y="5925312"/>
            <a:ext cx="127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23/6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138424" y="5073116"/>
            <a:ext cx="841248" cy="7973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29"/>
          <p:cNvSpPr/>
          <p:nvPr/>
        </p:nvSpPr>
        <p:spPr>
          <a:xfrm>
            <a:off x="3010408" y="48262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215tr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924048" y="5925312"/>
            <a:ext cx="127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24/6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408424" y="5054573"/>
            <a:ext cx="841248" cy="8158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2"/>
          <p:cNvSpPr/>
          <p:nvPr/>
        </p:nvSpPr>
        <p:spPr>
          <a:xfrm>
            <a:off x="4280408" y="4807685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220tr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194048" y="5925312"/>
            <a:ext cx="127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25/6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678424" y="5036030"/>
            <a:ext cx="841248" cy="83441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Text 35"/>
          <p:cNvSpPr/>
          <p:nvPr/>
        </p:nvSpPr>
        <p:spPr>
          <a:xfrm>
            <a:off x="5550408" y="478914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225tr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464048" y="5925312"/>
            <a:ext cx="127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26/6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6948424" y="4869147"/>
            <a:ext cx="841248" cy="1001301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41" name="Text 38"/>
          <p:cNvSpPr/>
          <p:nvPr/>
        </p:nvSpPr>
        <p:spPr>
          <a:xfrm>
            <a:off x="6820408" y="4622259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270tr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734048" y="5925312"/>
            <a:ext cx="127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27/6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218424" y="4832062"/>
            <a:ext cx="841248" cy="1038386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44" name="Text 41"/>
          <p:cNvSpPr/>
          <p:nvPr/>
        </p:nvSpPr>
        <p:spPr>
          <a:xfrm>
            <a:off x="8090408" y="458517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280tr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004048" y="5925312"/>
            <a:ext cx="127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 28/6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9488424" y="5054573"/>
            <a:ext cx="841248" cy="81587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7" name="Text 44"/>
          <p:cNvSpPr/>
          <p:nvPr/>
        </p:nvSpPr>
        <p:spPr>
          <a:xfrm>
            <a:off x="9360408" y="4807685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220tr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9274048" y="5925312"/>
            <a:ext cx="127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29/6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10758424" y="4935900"/>
            <a:ext cx="841248" cy="934548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50" name="Text 47"/>
          <p:cNvSpPr/>
          <p:nvPr/>
        </p:nvSpPr>
        <p:spPr>
          <a:xfrm>
            <a:off x="10630408" y="468901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252tr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0544048" y="5925312"/>
            <a:ext cx="127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30/6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nhiệm vụ trọng tâm W4 — tuần đóng tháng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· KẾ HOẠCH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749808"/>
          <a:ext cx="1152144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4206240"/>
                <a:gridCol w="1691640"/>
                <a:gridCol w="2286000"/>
                <a:gridCol w="9601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Nhiệm vụ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Người phụ trách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0D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Kiểm soát tỉ lệ chi/DT — giữ ≤ 14.5% mỗi ngày, không vượt 303tr W4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 + Đạt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chi/DT ≤ 14.5% hàng ngày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Tắt camp mess rẻ + không ra đơn (&gt;300K / 0 đơn)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Hàng ngày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Giữ và scale camp hiệu quả: CT6 voucher, ảnh trắng HN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ROAS ≥ 4x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Hàng ngày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Sát sao HP (Lạch Tray) + BN — báo cáo ngày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Tùng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Báo cáo hàng ngày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Triển khai báo cáo ứng dụng AI hàng ngày (MKT team)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Tất cả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Điền đủ 6/6 người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KOC: chốt deal cast Đạt + tìm KOC BN mới (Tùng)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Đạt + Tùng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 KOC chốt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chất lượng: Trang duyệt ảnh trước khi đăng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Quyên + Trang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ảnh "chợ"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TikTok: tăng video có ý nghĩa (so sánh, chất liệu, cuộc sống)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+ Đạt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 video/tuần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28/6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AI đã xong — W4: Gắn ứng dụng vào công việc thực tế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· ĐÀO TẠO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749808"/>
            <a:ext cx="3566160" cy="530352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749808"/>
            <a:ext cx="35661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768096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ĐÃ ĐÀO TẠO XONG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316736"/>
            <a:ext cx="3291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1: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cơ bản, tools cơ bản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2: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video (Veo3), AI ảnh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Tất cả 6 thành viên team MKT đã tham gia.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có cơ chế kiểm soát cách ứng dụng AI vào công việc thực tế hàng ngày.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749808"/>
            <a:ext cx="3657600" cy="5303520"/>
          </a:xfrm>
          <a:prstGeom prst="roundRect">
            <a:avLst>
              <a:gd name="adj" fmla="val 1750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0" y="749808"/>
            <a:ext cx="3657600" cy="457200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13" name="Text 11"/>
          <p:cNvSpPr/>
          <p:nvPr/>
        </p:nvSpPr>
        <p:spPr>
          <a:xfrm>
            <a:off x="4233672" y="76809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BÁO CÁO ỨNG DỤNG AI (MỚI)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51960" y="1316736"/>
            <a:ext cx="33832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40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W4 (23/6):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thành viên điền báo cáo ứng dụng AI mỗi ngày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 báo cáo: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Hôm nay dùng AI tool gì?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Tạo ra gì? (ảnh / video / text / ý tưởng)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Tiết kiệm được bao nhiêu thời gian?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Kết quả có dùng được không?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AI với kết quả digital MKT — đo lường thực tế.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36992" y="749808"/>
            <a:ext cx="3840480" cy="53035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5DCEA"/>
            </a:solidFill>
            <a:prstDash val="solid"/>
          </a:ln>
          <a:effectLst>
            <a:outerShdw sx="100000" sy="100000" kx="0" ky="0" algn="bl" rotWithShape="0" blurRad="63500" dist="25400" dir="5400000">
              <a:srgbClr val="C0C8D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36992" y="749808"/>
            <a:ext cx="3840480" cy="45720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17" name="Text 15"/>
          <p:cNvSpPr/>
          <p:nvPr/>
        </p:nvSpPr>
        <p:spPr>
          <a:xfrm>
            <a:off x="8055864" y="768096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TOOLS ĐỀ XUẤT W4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74152" y="1316736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&amp; thiết kế: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Midjourney, Leonardo, Canva AI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Veo3 (Google), CapCut Pro AI, Kling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&amp; content: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Claude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Lookbook: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background remover + product placement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23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ads: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camp + Claude phân tích rule tắt/giữ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66928"/>
            <a:ext cx="12188952" cy="457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45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Tuần 4 + Chốt hành động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418320" y="457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· CHỐT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65471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HÀNH NỘI BỘ  |  EYE PLUS  |  Họp MKT Tuần 4 — 23/06/2026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" y="749808"/>
            <a:ext cx="1389888" cy="502920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768096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1252728"/>
            <a:ext cx="73152" cy="228600"/>
          </a:xfrm>
          <a:prstGeom prst="rect">
            <a:avLst/>
          </a:prstGeom>
          <a:solidFill>
            <a:srgbClr val="12305C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1481328"/>
            <a:ext cx="1389888" cy="28346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9050">
            <a:solidFill>
              <a:srgbClr val="1230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55448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Họp triển khai W4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0624" y="237744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42316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Tất cả điền báo cáo AI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324612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29184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Đạt: review camp, tắt rác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749808"/>
            <a:ext cx="1389888" cy="502920"/>
          </a:xfrm>
          <a:prstGeom prst="rect">
            <a:avLst/>
          </a:prstGeom>
          <a:solidFill>
            <a:srgbClr val="1E4B8F"/>
          </a:solidFill>
          <a:ln/>
        </p:spPr>
      </p:sp>
      <p:sp>
        <p:nvSpPr>
          <p:cNvPr id="17" name="Text 15"/>
          <p:cNvSpPr/>
          <p:nvPr/>
        </p:nvSpPr>
        <p:spPr>
          <a:xfrm>
            <a:off x="1828800" y="768096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87168" y="1252728"/>
            <a:ext cx="73152" cy="228600"/>
          </a:xfrm>
          <a:prstGeom prst="rect">
            <a:avLst/>
          </a:prstGeom>
          <a:solidFill>
            <a:srgbClr val="1E4B8F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0" y="1481328"/>
            <a:ext cx="1389888" cy="28346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9050">
            <a:solidFill>
              <a:srgbClr val="1E4B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01952" y="155448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Lan: hoàn thành workflow Nhanh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01952" y="237744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01952" y="242316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Đạt: liên hệ chị Ngọc (KOC HĐ)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901952" y="324612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01952" y="329184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Tùng: sát sao HP + BN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10128" y="749808"/>
            <a:ext cx="1389888" cy="502920"/>
          </a:xfrm>
          <a:prstGeom prst="rect">
            <a:avLst/>
          </a:prstGeom>
          <a:solidFill>
            <a:srgbClr val="1E4B8F"/>
          </a:solidFill>
          <a:ln/>
        </p:spPr>
      </p:sp>
      <p:sp>
        <p:nvSpPr>
          <p:cNvPr id="26" name="Text 24"/>
          <p:cNvSpPr/>
          <p:nvPr/>
        </p:nvSpPr>
        <p:spPr>
          <a:xfrm>
            <a:off x="3310128" y="768096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68496" y="1252728"/>
            <a:ext cx="73152" cy="228600"/>
          </a:xfrm>
          <a:prstGeom prst="rect">
            <a:avLst/>
          </a:prstGeom>
          <a:solidFill>
            <a:srgbClr val="1E4B8F"/>
          </a:solidFill>
          <a:ln/>
        </p:spPr>
      </p:sp>
      <p:sp>
        <p:nvSpPr>
          <p:cNvPr id="28" name="Shape 26"/>
          <p:cNvSpPr/>
          <p:nvPr/>
        </p:nvSpPr>
        <p:spPr>
          <a:xfrm>
            <a:off x="3310128" y="1481328"/>
            <a:ext cx="1389888" cy="28346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9050">
            <a:solidFill>
              <a:srgbClr val="1E4B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0" y="155448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Loan: video test gọng đập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237744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42316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Tùng: lookbook AI CT5 v1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383280" y="324612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29184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Quyên: video oto đẩy TikTok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91456" y="749808"/>
            <a:ext cx="1389888" cy="502920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35" name="Text 33"/>
          <p:cNvSpPr/>
          <p:nvPr/>
        </p:nvSpPr>
        <p:spPr>
          <a:xfrm>
            <a:off x="4791456" y="768096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49824" y="1252728"/>
            <a:ext cx="73152" cy="228600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37" name="Shape 35"/>
          <p:cNvSpPr/>
          <p:nvPr/>
        </p:nvSpPr>
        <p:spPr>
          <a:xfrm>
            <a:off x="4791456" y="1481328"/>
            <a:ext cx="1389888" cy="28346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9050">
            <a:solidFill>
              <a:srgbClr val="E27D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155448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Quyên+Trang: concept KOC mới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64608" y="237744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242316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camp giữa tuần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64608" y="324612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329184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Tùng: lookbook finalize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72784" y="749808"/>
            <a:ext cx="1389888" cy="502920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44" name="Text 42"/>
          <p:cNvSpPr/>
          <p:nvPr/>
        </p:nvSpPr>
        <p:spPr>
          <a:xfrm>
            <a:off x="6272784" y="768096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27/6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931152" y="1252728"/>
            <a:ext cx="73152" cy="228600"/>
          </a:xfrm>
          <a:prstGeom prst="rect">
            <a:avLst/>
          </a:prstGeom>
          <a:solidFill>
            <a:srgbClr val="E27D2A"/>
          </a:solidFill>
          <a:ln/>
        </p:spPr>
      </p:sp>
      <p:sp>
        <p:nvSpPr>
          <p:cNvPr id="46" name="Shape 44"/>
          <p:cNvSpPr/>
          <p:nvPr/>
        </p:nvSpPr>
        <p:spPr>
          <a:xfrm>
            <a:off x="6272784" y="1481328"/>
            <a:ext cx="1389888" cy="28346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9050">
            <a:solidFill>
              <a:srgbClr val="E27D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5936" y="155448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Đạt: chốt deal cast KOC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345936" y="237744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5936" y="242316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Loan: quay tay gọng mới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45936" y="324612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45936" y="329184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báo cáo AI tuần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754112" y="749808"/>
            <a:ext cx="1389888" cy="5029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53" name="Text 51"/>
          <p:cNvSpPr/>
          <p:nvPr/>
        </p:nvSpPr>
        <p:spPr>
          <a:xfrm>
            <a:off x="7754112" y="768096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28/6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412480" y="1252728"/>
            <a:ext cx="73152" cy="22860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55" name="Shape 53"/>
          <p:cNvSpPr/>
          <p:nvPr/>
        </p:nvSpPr>
        <p:spPr>
          <a:xfrm>
            <a:off x="7754112" y="1481328"/>
            <a:ext cx="1389888" cy="28346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9050">
            <a:solidFill>
              <a:srgbClr val="C40D2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27264" y="155448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Tùng: tăng budget camp tốt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7827264" y="237744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27264" y="242316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Quyên+Trang: buổi quay cầm tay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827264" y="324612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827264" y="329184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ads T7 — đỉnh tuần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235440" y="749808"/>
            <a:ext cx="1389888" cy="50292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62" name="Text 60"/>
          <p:cNvSpPr/>
          <p:nvPr/>
        </p:nvSpPr>
        <p:spPr>
          <a:xfrm>
            <a:off x="9235440" y="768096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9893808" y="1252728"/>
            <a:ext cx="73152" cy="22860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64" name="Shape 62"/>
          <p:cNvSpPr/>
          <p:nvPr/>
        </p:nvSpPr>
        <p:spPr>
          <a:xfrm>
            <a:off x="9235440" y="1481328"/>
            <a:ext cx="1389888" cy="28346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9050">
            <a:solidFill>
              <a:srgbClr val="C40D2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308592" y="155448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Push CN — đỉnh tuần thứ 2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9308592" y="237744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308592" y="242316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 chi/DT real-time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308592" y="324612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308592" y="329184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phân bổ ngân sách còn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0716768" y="749808"/>
            <a:ext cx="1389888" cy="502920"/>
          </a:xfrm>
          <a:prstGeom prst="rect">
            <a:avLst/>
          </a:prstGeom>
          <a:solidFill>
            <a:srgbClr val="8E0A20"/>
          </a:solidFill>
          <a:ln/>
        </p:spPr>
      </p:sp>
      <p:sp>
        <p:nvSpPr>
          <p:cNvPr id="71" name="Text 69"/>
          <p:cNvSpPr/>
          <p:nvPr/>
        </p:nvSpPr>
        <p:spPr>
          <a:xfrm>
            <a:off x="10716768" y="768096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T2-T3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30/6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11375136" y="1252728"/>
            <a:ext cx="73152" cy="228600"/>
          </a:xfrm>
          <a:prstGeom prst="rect">
            <a:avLst/>
          </a:prstGeom>
          <a:solidFill>
            <a:srgbClr val="8E0A20"/>
          </a:solidFill>
          <a:ln/>
        </p:spPr>
      </p:sp>
      <p:sp>
        <p:nvSpPr>
          <p:cNvPr id="73" name="Shape 71"/>
          <p:cNvSpPr/>
          <p:nvPr/>
        </p:nvSpPr>
        <p:spPr>
          <a:xfrm>
            <a:off x="10716768" y="1481328"/>
            <a:ext cx="1389888" cy="2834640"/>
          </a:xfrm>
          <a:prstGeom prst="roundRect">
            <a:avLst>
              <a:gd name="adj" fmla="val 3289"/>
            </a:avLst>
          </a:prstGeom>
          <a:solidFill>
            <a:srgbClr val="FFFFFF"/>
          </a:solidFill>
          <a:ln w="19050">
            <a:solidFill>
              <a:srgbClr val="8E0A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0789920" y="155448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Đóng tháng — check target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789920" y="237744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789920" y="242316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Báo cáo tổng kết T6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789920" y="3246120"/>
            <a:ext cx="1243584" cy="0"/>
          </a:xfrm>
          <a:prstGeom prst="line">
            <a:avLst/>
          </a:prstGeom>
          <a:noFill/>
          <a:ln w="6350">
            <a:solidFill>
              <a:srgbClr val="D5DCE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789920" y="3291840"/>
            <a:ext cx="1243584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Chuẩn bị họp W1 T7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47472" y="4572000"/>
            <a:ext cx="11503152" cy="1993392"/>
          </a:xfrm>
          <a:prstGeom prst="roundRect">
            <a:avLst>
              <a:gd name="adj" fmla="val 3670"/>
            </a:avLst>
          </a:prstGeom>
          <a:solidFill>
            <a:srgbClr val="12305C"/>
          </a:solidFill>
          <a:ln/>
        </p:spPr>
      </p:sp>
      <p:sp>
        <p:nvSpPr>
          <p:cNvPr id="80" name="Text 78"/>
          <p:cNvSpPr/>
          <p:nvPr/>
        </p:nvSpPr>
        <p:spPr>
          <a:xfrm>
            <a:off x="502920" y="4626864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CHỐT 3 VIỆC PHẢI LÀM TRƯỚC KHI RỜI PHÒNG HỌP HÔM NAY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02920" y="4974336"/>
            <a:ext cx="11155680" cy="0"/>
          </a:xfrm>
          <a:prstGeom prst="line">
            <a:avLst/>
          </a:prstGeom>
          <a:noFill/>
          <a:ln w="12700">
            <a:solidFill>
              <a:srgbClr val="C40D2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57200" y="5047488"/>
            <a:ext cx="457200" cy="123444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83" name="Text 81"/>
          <p:cNvSpPr/>
          <p:nvPr/>
        </p:nvSpPr>
        <p:spPr>
          <a:xfrm>
            <a:off x="457200" y="5047488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4" name="Text 82"/>
          <p:cNvSpPr/>
          <p:nvPr/>
        </p:nvSpPr>
        <p:spPr>
          <a:xfrm>
            <a:off x="987552" y="5084064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Tùng + Đạt xác nhận: chi/DT ≤ 14.5% mỗi ngày — DT thực thấp thì chi phải cắt, không giữ số cứng</a:t>
            </a:r>
            <a:endParaRPr lang="en-US" sz="1150" dirty="0"/>
          </a:p>
        </p:txBody>
      </p:sp>
      <p:sp>
        <p:nvSpPr>
          <p:cNvPr id="85" name="Shape 83"/>
          <p:cNvSpPr/>
          <p:nvPr/>
        </p:nvSpPr>
        <p:spPr>
          <a:xfrm>
            <a:off x="4288536" y="5047488"/>
            <a:ext cx="457200" cy="123444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86" name="Text 84"/>
          <p:cNvSpPr/>
          <p:nvPr/>
        </p:nvSpPr>
        <p:spPr>
          <a:xfrm>
            <a:off x="4288536" y="5047488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7" name="Text 85"/>
          <p:cNvSpPr/>
          <p:nvPr/>
        </p:nvSpPr>
        <p:spPr>
          <a:xfrm>
            <a:off x="4818888" y="5084064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6 thành viên đồng ý điền báo cáo ứng dụng AI từ ngày 23/6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8119872" y="5047488"/>
            <a:ext cx="457200" cy="1234440"/>
          </a:xfrm>
          <a:prstGeom prst="rect">
            <a:avLst/>
          </a:prstGeom>
          <a:solidFill>
            <a:srgbClr val="C40D2E"/>
          </a:solidFill>
          <a:ln/>
        </p:spPr>
      </p:sp>
      <p:sp>
        <p:nvSpPr>
          <p:cNvPr id="89" name="Text 87"/>
          <p:cNvSpPr/>
          <p:nvPr/>
        </p:nvSpPr>
        <p:spPr>
          <a:xfrm>
            <a:off x="8119872" y="5047488"/>
            <a:ext cx="4572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8650224" y="5084064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 liên hệ chị Ngọc về quy trình KOC trước 25/6 — Tùng bắt đầu tìm KOC BN mới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Họp MKT Tuần 4 — Eye Plus T6/2026</dc:title>
  <dc:subject>PptxGenJS Presentation</dc:subject>
  <dc:creator>PptxGenJS</dc:creator>
  <cp:lastModifiedBy>PptxGenJS</cp:lastModifiedBy>
  <cp:revision>1</cp:revision>
  <dcterms:created xsi:type="dcterms:W3CDTF">2026-06-22T05:45:57Z</dcterms:created>
  <dcterms:modified xsi:type="dcterms:W3CDTF">2026-06-22T05:45:57Z</dcterms:modified>
</cp:coreProperties>
</file>